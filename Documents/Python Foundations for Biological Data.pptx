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66" r:id="rId4"/>
    <p:sldId id="258" r:id="rId5"/>
    <p:sldId id="269" r:id="rId6"/>
    <p:sldId id="270" r:id="rId7"/>
    <p:sldId id="271" r:id="rId8"/>
    <p:sldId id="272" r:id="rId9"/>
    <p:sldId id="259" r:id="rId10"/>
    <p:sldId id="260" r:id="rId11"/>
    <p:sldId id="261" r:id="rId12"/>
    <p:sldId id="273" r:id="rId13"/>
    <p:sldId id="274" r:id="rId14"/>
    <p:sldId id="275" r:id="rId15"/>
    <p:sldId id="276" r:id="rId16"/>
    <p:sldId id="265" r:id="rId17"/>
    <p:sldId id="262" r:id="rId18"/>
    <p:sldId id="263" r:id="rId19"/>
    <p:sldId id="277" r:id="rId20"/>
    <p:sldId id="268" r:id="rId21"/>
    <p:sldId id="278" r:id="rId22"/>
    <p:sldId id="267" r:id="rId23"/>
  </p:sldIdLst>
  <p:sldSz cx="12192000" cy="6858000"/>
  <p:notesSz cx="6858000" cy="9144000"/>
  <p:embeddedFontLst>
    <p:embeddedFont>
      <p:font typeface="3ds Condensed" panose="02000503020000020004" pitchFamily="2" charset="0"/>
      <p:regular r:id="rId25"/>
      <p:bold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803834-6A48-4482-86AD-A1F96761B0B7}">
  <a:tblStyle styleId="{F0803834-6A48-4482-86AD-A1F96761B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81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95537" y="2103239"/>
            <a:ext cx="740092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Python Foundations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 for Biological Data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897510"/>
            <a:ext cx="952500" cy="571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571750" y="4240410"/>
            <a:ext cx="7048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Day 1: Building the Logic for Genomic Analysis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3FCCF-70C7-5B4E-AF5A-AAAAD5827DC5}"/>
              </a:ext>
            </a:extLst>
          </p:cNvPr>
          <p:cNvSpPr txBox="1"/>
          <p:nvPr/>
        </p:nvSpPr>
        <p:spPr>
          <a:xfrm>
            <a:off x="8802094" y="5542059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3ds Condensed" panose="02000503020000020004" pitchFamily="2" charset="0"/>
              </a:rPr>
              <a:t>Presenter: Shivani 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9081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69081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90812"/>
            <a:ext cx="3429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91063" y="3690937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Fundamentals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967162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Python syntax tailored for life sciences. Variables, types, and basic logic.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05813" y="3690937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76775" y="3967162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String manipulation for DNA/Protein sequences and sequence motif counting.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20563" y="3690937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FASTA I/O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91525" y="3967162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Parsing biological standard file formats using pure Python methods.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9312" y="3033712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6450" y="30337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3587" y="3033712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Agenda: Day 1 Concepts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8123" y="790677"/>
            <a:ext cx="2164569" cy="57125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744" y="2808981"/>
            <a:ext cx="2123681" cy="17658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498080" y="1993392"/>
            <a:ext cx="3826510" cy="3542029"/>
            <a:chOff x="7498080" y="1993392"/>
            <a:chExt cx="3826510" cy="3542029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6736" y="1993392"/>
              <a:ext cx="2387769" cy="3541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8080" y="2580132"/>
              <a:ext cx="3404616" cy="26822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24175"/>
            <a:ext cx="52387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24175"/>
            <a:ext cx="52387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09650" y="326707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Readability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09650" y="3686175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Python's clear syntax mimics English, making complex bio-algorithms easier to interpret and share within laboratory settings.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29400" y="326707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Ecosystem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29400" y="3686175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Access to massive libraries like BioPython, NumPy, and Pandas ensures you don't have to reinvent the wheel for every analysis.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Why Python for Biology?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24933"/>
            <a:ext cx="9847690" cy="842410"/>
          </a:xfrm>
          <a:prstGeom prst="rect">
            <a:avLst/>
          </a:prstGeom>
        </p:spPr>
        <p:txBody>
          <a:bodyPr vert="horz" wrap="square" lIns="0" tIns="151003" rIns="0" bIns="0" rtlCol="0">
            <a:spAutoFit/>
          </a:bodyPr>
          <a:lstStyle/>
          <a:p>
            <a:pPr marL="217106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80" dirty="0"/>
              <a:t> </a:t>
            </a:r>
            <a:r>
              <a:rPr dirty="0"/>
              <a:t>Python</a:t>
            </a:r>
            <a:r>
              <a:rPr spc="-5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Life</a:t>
            </a:r>
            <a:r>
              <a:rPr spc="-60" dirty="0"/>
              <a:t> </a:t>
            </a:r>
            <a:r>
              <a:rPr spc="-10" dirty="0"/>
              <a:t>Sciences?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93317"/>
            <a:ext cx="1067435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Python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widely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simplicity,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library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automation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biological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workflows.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5395" y="2708148"/>
            <a:ext cx="6818376" cy="38359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6982" y="192150"/>
            <a:ext cx="409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Welcome</a:t>
            </a:r>
            <a:r>
              <a:rPr sz="4000" spc="-100" dirty="0"/>
              <a:t> </a:t>
            </a:r>
            <a:r>
              <a:rPr sz="4000" dirty="0"/>
              <a:t>to</a:t>
            </a:r>
            <a:r>
              <a:rPr sz="4000" spc="-110" dirty="0"/>
              <a:t> </a:t>
            </a:r>
            <a:r>
              <a:rPr sz="4000" spc="-10" dirty="0"/>
              <a:t>Python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38124" y="903215"/>
            <a:ext cx="10019665" cy="44678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dirty="0">
                <a:latin typeface="Calibri"/>
                <a:cs typeface="Calibri"/>
              </a:rPr>
              <a:t>1: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Python?</a:t>
            </a:r>
            <a:endParaRPr sz="3200">
              <a:latin typeface="Calibri"/>
              <a:cs typeface="Calibri"/>
            </a:endParaRPr>
          </a:p>
          <a:p>
            <a:pPr marL="755650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20" dirty="0">
                <a:latin typeface="Calibri"/>
                <a:cs typeface="Calibri"/>
              </a:rPr>
              <a:t>Object-</a:t>
            </a:r>
            <a:r>
              <a:rPr sz="2800" dirty="0">
                <a:latin typeface="Calibri"/>
                <a:cs typeface="Calibri"/>
              </a:rPr>
              <a:t>oriented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interpreted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</a:t>
            </a:r>
            <a:endParaRPr sz="2800">
              <a:latin typeface="Calibri"/>
              <a:cs typeface="Calibri"/>
            </a:endParaRPr>
          </a:p>
          <a:p>
            <a:pPr marL="755650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clear,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easy-to-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Used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development,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science,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automation,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20" dirty="0">
                <a:latin typeface="Calibri"/>
                <a:cs typeface="Calibri"/>
              </a:rPr>
              <a:t>more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libri"/>
                <a:cs typeface="Calibri"/>
              </a:rPr>
              <a:t>Why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Python?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Beginner-</a:t>
            </a:r>
            <a:r>
              <a:rPr sz="3200" dirty="0">
                <a:latin typeface="Calibri"/>
                <a:cs typeface="Calibri"/>
              </a:rPr>
              <a:t>friendly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widely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industry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Powerful,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flexible,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source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3418332"/>
            <a:ext cx="4953000" cy="2785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44" y="645134"/>
            <a:ext cx="10782532" cy="5400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/>
          <p:cNvSpPr txBox="1"/>
          <p:nvPr/>
        </p:nvSpPr>
        <p:spPr>
          <a:xfrm>
            <a:off x="445274" y="644054"/>
            <a:ext cx="7251590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Python</a:t>
            </a:r>
            <a:r>
              <a:rPr sz="24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forms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4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foundation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24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scientific</a:t>
            </a:r>
            <a:r>
              <a:rPr sz="24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computing.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9900" marR="659130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Core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libraries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such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NumPy,</a:t>
            </a:r>
            <a:r>
              <a:rPr sz="24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Calibri"/>
                <a:cs typeface="Calibri"/>
              </a:rPr>
              <a:t>SciPy,</a:t>
            </a:r>
            <a:r>
              <a:rPr sz="24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Pandas,</a:t>
            </a:r>
            <a:r>
              <a:rPr sz="2400" b="1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Matplotlib</a:t>
            </a:r>
            <a:r>
              <a:rPr sz="24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provide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essential</a:t>
            </a:r>
            <a:r>
              <a:rPr sz="2400" spc="-1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tools</a:t>
            </a:r>
            <a:r>
              <a:rPr sz="24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2400" spc="-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numerical</a:t>
            </a:r>
            <a:r>
              <a:rPr sz="2400" spc="-1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computing,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data</a:t>
            </a:r>
            <a:r>
              <a:rPr sz="2400" spc="-1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processing,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visualization.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9900" marR="793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These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core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tools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support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higher-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level</a:t>
            </a:r>
            <a:r>
              <a:rPr sz="24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scientific</a:t>
            </a:r>
            <a:r>
              <a:rPr sz="24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frameworks</a:t>
            </a:r>
            <a:r>
              <a:rPr sz="24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including 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Jupyter,</a:t>
            </a:r>
            <a:r>
              <a:rPr sz="24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Calibri"/>
                <a:cs typeface="Calibri"/>
              </a:rPr>
              <a:t>scikit-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learn,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StatsModels,</a:t>
            </a:r>
            <a:r>
              <a:rPr sz="24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chemeClr val="tx1"/>
                </a:solidFill>
                <a:latin typeface="Calibri"/>
                <a:cs typeface="Calibri"/>
              </a:rPr>
              <a:t>xarray,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Numba,</a:t>
            </a:r>
            <a:r>
              <a:rPr sz="2400"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Dask,</a:t>
            </a:r>
            <a:r>
              <a:rPr sz="2400" b="1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NetworkX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enabling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efficient</a:t>
            </a:r>
            <a:r>
              <a:rPr sz="24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data</a:t>
            </a:r>
            <a:r>
              <a:rPr sz="24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analysis,</a:t>
            </a:r>
            <a:r>
              <a:rPr sz="24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machine</a:t>
            </a:r>
            <a:r>
              <a:rPr sz="24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learning,</a:t>
            </a:r>
            <a:r>
              <a:rPr sz="24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statistics,</a:t>
            </a:r>
            <a:r>
              <a:rPr sz="24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parallel computing.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sz="24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top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this,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chemeClr val="tx1"/>
                </a:solidFill>
                <a:latin typeface="Calibri"/>
                <a:cs typeface="Calibri"/>
              </a:rPr>
              <a:t>domain-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specialized</a:t>
            </a:r>
            <a:r>
              <a:rPr sz="24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libraries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such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as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Biopython,</a:t>
            </a:r>
            <a:r>
              <a:rPr sz="24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alibri"/>
                <a:cs typeface="Calibri"/>
              </a:rPr>
              <a:t>scikit-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image,</a:t>
            </a:r>
            <a:r>
              <a:rPr sz="2400" b="1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chemeClr val="tx1"/>
                </a:solidFill>
                <a:latin typeface="Calibri"/>
                <a:cs typeface="Calibri"/>
              </a:rPr>
              <a:t>Astropy,</a:t>
            </a:r>
            <a:r>
              <a:rPr sz="2400" b="1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Calibri"/>
                <a:cs typeface="Calibri"/>
              </a:rPr>
              <a:t>SunPy,</a:t>
            </a:r>
            <a:r>
              <a:rPr sz="2400" b="1" spc="-1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tx1"/>
                </a:solidFill>
                <a:latin typeface="Calibri"/>
                <a:cs typeface="Calibri"/>
              </a:rPr>
              <a:t>MetPy,</a:t>
            </a:r>
            <a:r>
              <a:rPr sz="2400" b="1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PyMC3,</a:t>
            </a:r>
            <a:r>
              <a:rPr sz="2400" b="1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spc="-65" dirty="0">
                <a:solidFill>
                  <a:schemeClr val="tx1"/>
                </a:solidFill>
                <a:latin typeface="Calibri"/>
                <a:cs typeface="Calibri"/>
              </a:rPr>
              <a:t>DIPY,</a:t>
            </a:r>
            <a:r>
              <a:rPr sz="2400" b="1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b="1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tx1"/>
                </a:solidFill>
                <a:latin typeface="Calibri"/>
                <a:cs typeface="Calibri"/>
              </a:rPr>
              <a:t>SimPEG</a:t>
            </a:r>
            <a:r>
              <a:rPr sz="2400" b="1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extend</a:t>
            </a:r>
            <a:r>
              <a:rPr sz="24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Python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sz="24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specific</a:t>
            </a:r>
            <a:r>
              <a:rPr sz="24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scientific</a:t>
            </a:r>
            <a:r>
              <a:rPr sz="2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fields</a:t>
            </a:r>
            <a:r>
              <a:rPr sz="24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like</a:t>
            </a:r>
            <a:r>
              <a:rPr sz="24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bioinformatics,</a:t>
            </a:r>
            <a:r>
              <a:rPr sz="24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chemeClr val="tx1"/>
                </a:solidFill>
                <a:latin typeface="Calibri"/>
                <a:cs typeface="Calibri"/>
              </a:rPr>
              <a:t>astronomy,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medical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imaging,</a:t>
            </a:r>
            <a:r>
              <a:rPr sz="24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atmospheric</a:t>
            </a:r>
            <a:r>
              <a:rPr sz="24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science,</a:t>
            </a:r>
            <a:r>
              <a:rPr sz="24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geophysics.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125" y="20574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7325" y="21336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286500" y="21859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Storing Biological Data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096125" y="2614612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Strings: Used for DNA/Protein sequences. Example: seq = "ATGC"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096125" y="3395662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Integers: Counts of bases or sequence lengths.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096125" y="4176712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Floats: Precise measurements like GC content (e.g., 0.42).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96125" y="4957762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Lists: Collections of sequences or sample IDs.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6527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433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42148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9958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Variables &amp; Data Types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095375" y="3048000"/>
            <a:ext cx="10429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Slicing: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Extract sub-sequences or motifs using index range (e.g., seq[0:3] for the first codon).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95375" y="3543300"/>
            <a:ext cx="10429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Searching: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 .count("G") or .find("ATG") to locate specific motifs or calculate composition.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95375" y="4038600"/>
            <a:ext cx="10429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Transformation: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Easily convert cases with .upper() or replace bases for transcription (T to U).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95375" y="4533900"/>
            <a:ext cx="10429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Joining: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Concatenate sequence fragments read from multiple lines into a single continuous string.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086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581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076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457200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String Manipulation for Sequences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47975"/>
            <a:ext cx="52387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47975"/>
            <a:ext cx="52387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1009650" y="319087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For Loops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09650" y="3609975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Iterate through every nucleotide in a chromosome or every file in a directory.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29400" y="319087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If-Else Logic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29400" y="3609975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Filter sequences based on quality scores or check for the presence of valid start/stop codons.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Loops &amp; Conditionals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472916"/>
            <a:ext cx="1004697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Python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45" dirty="0">
                <a:latin typeface="Calibri"/>
                <a:cs typeface="Calibri"/>
              </a:rPr>
              <a:t>You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Python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interpreter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script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files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Try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online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install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locally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5453" y="327087"/>
            <a:ext cx="179379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indent="-62230">
              <a:lnSpc>
                <a:spcPct val="100000"/>
              </a:lnSpc>
              <a:spcBef>
                <a:spcPts val="100"/>
              </a:spcBef>
              <a:buSzPct val="91666"/>
              <a:buChar char="•"/>
              <a:tabLst>
                <a:tab pos="65405" algn="l"/>
              </a:tabLst>
            </a:pP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Example: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4127" y="3518915"/>
            <a:ext cx="6101080" cy="243078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44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sz="4000" spc="-10" dirty="0">
                <a:latin typeface="Arial MT"/>
                <a:cs typeface="Arial MT"/>
              </a:rPr>
              <a:t>python</a:t>
            </a:r>
            <a:endParaRPr sz="40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4000" b="1" dirty="0">
                <a:solidFill>
                  <a:srgbClr val="8858A8"/>
                </a:solidFill>
                <a:latin typeface="Arial"/>
                <a:cs typeface="Arial"/>
              </a:rPr>
              <a:t>print</a:t>
            </a:r>
            <a:r>
              <a:rPr sz="4000" dirty="0">
                <a:solidFill>
                  <a:srgbClr val="4D4D4B"/>
                </a:solidFill>
                <a:latin typeface="Arial MT"/>
                <a:cs typeface="Arial MT"/>
              </a:rPr>
              <a:t>(</a:t>
            </a:r>
            <a:r>
              <a:rPr sz="4000" dirty="0">
                <a:solidFill>
                  <a:srgbClr val="708B00"/>
                </a:solidFill>
                <a:latin typeface="Arial MT"/>
                <a:cs typeface="Arial MT"/>
              </a:rPr>
              <a:t>"Hello,</a:t>
            </a:r>
            <a:r>
              <a:rPr sz="4000" spc="-190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708B00"/>
                </a:solidFill>
                <a:latin typeface="Arial MT"/>
                <a:cs typeface="Arial MT"/>
              </a:rPr>
              <a:t>World!"</a:t>
            </a:r>
            <a:r>
              <a:rPr sz="4000" spc="-10" dirty="0">
                <a:solidFill>
                  <a:srgbClr val="4D4D4B"/>
                </a:solidFill>
                <a:latin typeface="Arial MT"/>
                <a:cs typeface="Arial MT"/>
              </a:rPr>
              <a:t>)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323" y="6083808"/>
            <a:ext cx="4971415" cy="58547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35560" rIns="0" bIns="0" rtlCol="0">
            <a:spAutoFit/>
          </a:bodyPr>
          <a:lstStyle/>
          <a:p>
            <a:pPr marL="233679" indent="-151130">
              <a:lnSpc>
                <a:spcPct val="100000"/>
              </a:lnSpc>
              <a:spcBef>
                <a:spcPts val="280"/>
              </a:spcBef>
              <a:buSzPct val="96875"/>
              <a:buChar char="•"/>
              <a:tabLst>
                <a:tab pos="233679" algn="l"/>
              </a:tabLst>
            </a:pPr>
            <a:r>
              <a:rPr sz="3200" dirty="0">
                <a:latin typeface="Arial MT"/>
                <a:cs typeface="Arial MT"/>
              </a:rPr>
              <a:t>Output: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Hello,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World!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616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Basic</a:t>
            </a:r>
            <a:r>
              <a:rPr sz="4000" spc="-75" dirty="0"/>
              <a:t> </a:t>
            </a:r>
            <a:r>
              <a:rPr sz="4000" dirty="0"/>
              <a:t>Concepts</a:t>
            </a:r>
            <a:r>
              <a:rPr sz="4000" spc="-65" dirty="0"/>
              <a:t> </a:t>
            </a:r>
            <a:r>
              <a:rPr sz="4000" dirty="0"/>
              <a:t>and</a:t>
            </a:r>
            <a:r>
              <a:rPr sz="4000" spc="-50" dirty="0"/>
              <a:t> </a:t>
            </a:r>
            <a:r>
              <a:rPr sz="4000" dirty="0"/>
              <a:t>Data</a:t>
            </a:r>
            <a:r>
              <a:rPr sz="4000" spc="-75" dirty="0"/>
              <a:t> </a:t>
            </a:r>
            <a:r>
              <a:rPr sz="4000" spc="-10" dirty="0"/>
              <a:t>Types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29436" y="1511020"/>
            <a:ext cx="7120255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Variables: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information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types: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String,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integer,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float,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boolean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3772" y="3971544"/>
            <a:ext cx="5695315" cy="120142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3600" spc="-10" dirty="0">
                <a:latin typeface="Arial MT"/>
                <a:cs typeface="Arial MT"/>
              </a:rPr>
              <a:t>python</a:t>
            </a:r>
            <a:endParaRPr sz="36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name</a:t>
            </a:r>
            <a:r>
              <a:rPr sz="3600" spc="-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=</a:t>
            </a:r>
            <a:r>
              <a:rPr sz="3600" spc="-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708B00"/>
                </a:solidFill>
                <a:latin typeface="Arial MT"/>
                <a:cs typeface="Arial MT"/>
              </a:rPr>
              <a:t>"Alice"</a:t>
            </a:r>
            <a:r>
              <a:rPr sz="3600" spc="-5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age =</a:t>
            </a:r>
            <a:r>
              <a:rPr sz="36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5861F"/>
                </a:solidFill>
                <a:latin typeface="Arial MT"/>
                <a:cs typeface="Arial MT"/>
              </a:rPr>
              <a:t>13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99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User</a:t>
            </a:r>
            <a:r>
              <a:rPr sz="4000" spc="-60" dirty="0"/>
              <a:t> </a:t>
            </a:r>
            <a:r>
              <a:rPr sz="4000" dirty="0"/>
              <a:t>Input</a:t>
            </a:r>
            <a:r>
              <a:rPr sz="4000" spc="-65" dirty="0"/>
              <a:t> </a:t>
            </a:r>
            <a:r>
              <a:rPr sz="4000" dirty="0"/>
              <a:t>and</a:t>
            </a:r>
            <a:r>
              <a:rPr sz="4000" spc="-75" dirty="0"/>
              <a:t> </a:t>
            </a:r>
            <a:r>
              <a:rPr sz="4000" spc="-10" dirty="0"/>
              <a:t>Output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02232" y="2024329"/>
            <a:ext cx="5830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50495">
              <a:lnSpc>
                <a:spcPct val="100000"/>
              </a:lnSpc>
              <a:spcBef>
                <a:spcPts val="105"/>
              </a:spcBef>
              <a:buSzPct val="96875"/>
              <a:buChar char="•"/>
              <a:tabLst>
                <a:tab pos="155575" algn="l"/>
              </a:tabLst>
            </a:pPr>
            <a:r>
              <a:rPr sz="3200" dirty="0">
                <a:latin typeface="Arial MT"/>
                <a:cs typeface="Arial MT"/>
              </a:rPr>
              <a:t>Read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input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using: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4627" y="3215639"/>
            <a:ext cx="6918959" cy="261683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7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75"/>
              </a:spcBef>
            </a:pPr>
            <a:r>
              <a:rPr sz="3200" spc="-10" dirty="0">
                <a:latin typeface="Arial MT"/>
                <a:cs typeface="Arial MT"/>
              </a:rPr>
              <a:t>python</a:t>
            </a:r>
            <a:endParaRPr sz="3200">
              <a:latin typeface="Arial MT"/>
              <a:cs typeface="Arial MT"/>
            </a:endParaRPr>
          </a:p>
          <a:p>
            <a:pPr marL="91440" marR="621030">
              <a:lnSpc>
                <a:spcPct val="100000"/>
              </a:lnSpc>
            </a:pP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user_name</a:t>
            </a:r>
            <a:r>
              <a:rPr sz="3200" spc="-8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=</a:t>
            </a:r>
            <a:r>
              <a:rPr sz="3200" spc="-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5861F"/>
                </a:solidFill>
                <a:latin typeface="Arial MT"/>
                <a:cs typeface="Arial MT"/>
              </a:rPr>
              <a:t>input</a:t>
            </a: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(</a:t>
            </a:r>
            <a:r>
              <a:rPr sz="3200" dirty="0">
                <a:solidFill>
                  <a:srgbClr val="708B00"/>
                </a:solidFill>
                <a:latin typeface="Arial MT"/>
                <a:cs typeface="Arial MT"/>
              </a:rPr>
              <a:t>"Enter</a:t>
            </a:r>
            <a:r>
              <a:rPr sz="3200" spc="-65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08B00"/>
                </a:solidFill>
                <a:latin typeface="Arial MT"/>
                <a:cs typeface="Arial MT"/>
              </a:rPr>
              <a:t>your </a:t>
            </a:r>
            <a:r>
              <a:rPr sz="3200" dirty="0">
                <a:solidFill>
                  <a:srgbClr val="708B00"/>
                </a:solidFill>
                <a:latin typeface="Arial MT"/>
                <a:cs typeface="Arial MT"/>
              </a:rPr>
              <a:t>name:</a:t>
            </a:r>
            <a:r>
              <a:rPr sz="3200" spc="-15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08B00"/>
                </a:solidFill>
                <a:latin typeface="Arial MT"/>
                <a:cs typeface="Arial MT"/>
              </a:rPr>
              <a:t>"</a:t>
            </a: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)</a:t>
            </a:r>
            <a:r>
              <a:rPr sz="3200" spc="-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8858A8"/>
                </a:solidFill>
                <a:latin typeface="Arial"/>
                <a:cs typeface="Arial"/>
              </a:rPr>
              <a:t>print</a:t>
            </a: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(</a:t>
            </a:r>
            <a:r>
              <a:rPr sz="3200" dirty="0">
                <a:solidFill>
                  <a:srgbClr val="708B00"/>
                </a:solidFill>
                <a:latin typeface="Arial MT"/>
                <a:cs typeface="Arial MT"/>
              </a:rPr>
              <a:t>"Hi,</a:t>
            </a:r>
            <a:r>
              <a:rPr sz="3200" spc="-40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08B00"/>
                </a:solidFill>
                <a:latin typeface="Arial MT"/>
                <a:cs typeface="Arial MT"/>
              </a:rPr>
              <a:t>"</a:t>
            </a:r>
            <a:r>
              <a:rPr sz="3200" spc="-15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4D4D4B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4D4D4B"/>
                </a:solidFill>
                <a:latin typeface="Arial MT"/>
                <a:cs typeface="Arial MT"/>
              </a:rPr>
              <a:t>user_name)</a:t>
            </a:r>
            <a:endParaRPr sz="3200">
              <a:latin typeface="Arial MT"/>
              <a:cs typeface="Arial MT"/>
            </a:endParaRPr>
          </a:p>
          <a:p>
            <a:pPr marL="213995" indent="-133350">
              <a:lnSpc>
                <a:spcPct val="100000"/>
              </a:lnSpc>
              <a:spcBef>
                <a:spcPts val="20"/>
              </a:spcBef>
              <a:buSzPct val="96428"/>
              <a:buChar char="•"/>
              <a:tabLst>
                <a:tab pos="213995" algn="l"/>
              </a:tabLst>
            </a:pPr>
            <a:r>
              <a:rPr sz="2800" dirty="0">
                <a:latin typeface="Arial MT"/>
                <a:cs typeface="Arial MT"/>
              </a:rPr>
              <a:t>Useful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interactive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programs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761" y="192150"/>
            <a:ext cx="3810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Simple</a:t>
            </a:r>
            <a:r>
              <a:rPr sz="4000" spc="-15" dirty="0"/>
              <a:t> </a:t>
            </a:r>
            <a:r>
              <a:rPr sz="4000" spc="-10" dirty="0"/>
              <a:t>Operations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607946"/>
            <a:ext cx="9197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addition,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subtraction,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multiplication,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division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1183" y="2894076"/>
            <a:ext cx="7152640" cy="119951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3600" spc="-10" dirty="0">
                <a:latin typeface="Arial MT"/>
                <a:cs typeface="Arial MT"/>
              </a:rPr>
              <a:t>python</a:t>
            </a:r>
            <a:endParaRPr sz="3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x</a:t>
            </a:r>
            <a:r>
              <a:rPr sz="36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=</a:t>
            </a:r>
            <a:r>
              <a:rPr sz="36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5861F"/>
                </a:solidFill>
                <a:latin typeface="Arial MT"/>
                <a:cs typeface="Arial MT"/>
              </a:rPr>
              <a:t>5</a:t>
            </a:r>
            <a:r>
              <a:rPr sz="3600" spc="-20" dirty="0">
                <a:solidFill>
                  <a:srgbClr val="F5861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y</a:t>
            </a:r>
            <a:r>
              <a:rPr sz="36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=</a:t>
            </a:r>
            <a:r>
              <a:rPr sz="3600" spc="-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5861F"/>
                </a:solidFill>
                <a:latin typeface="Arial MT"/>
                <a:cs typeface="Arial MT"/>
              </a:rPr>
              <a:t>3</a:t>
            </a:r>
            <a:r>
              <a:rPr sz="3600" spc="-15" dirty="0">
                <a:solidFill>
                  <a:srgbClr val="F5861F"/>
                </a:solidFill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8858A8"/>
                </a:solidFill>
                <a:latin typeface="Arial"/>
                <a:cs typeface="Arial"/>
              </a:rPr>
              <a:t>print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(x</a:t>
            </a:r>
            <a:r>
              <a:rPr sz="36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4D4D4B"/>
                </a:solidFill>
                <a:latin typeface="Arial MT"/>
                <a:cs typeface="Arial MT"/>
              </a:rPr>
              <a:t>+</a:t>
            </a:r>
            <a:r>
              <a:rPr sz="3600" spc="-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4D4D4B"/>
                </a:solidFill>
                <a:latin typeface="Arial MT"/>
                <a:cs typeface="Arial MT"/>
              </a:rPr>
              <a:t>y)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9139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Control</a:t>
            </a:r>
            <a:r>
              <a:rPr sz="4000" spc="-140" dirty="0"/>
              <a:t> </a:t>
            </a:r>
            <a:r>
              <a:rPr sz="4000" dirty="0"/>
              <a:t>Flow</a:t>
            </a:r>
            <a:r>
              <a:rPr sz="4000" spc="-140" dirty="0"/>
              <a:t> </a:t>
            </a:r>
            <a:r>
              <a:rPr sz="4000" dirty="0"/>
              <a:t>(Optional</a:t>
            </a:r>
            <a:r>
              <a:rPr sz="4000" spc="-135" dirty="0"/>
              <a:t> </a:t>
            </a:r>
            <a:r>
              <a:rPr sz="4000" dirty="0"/>
              <a:t>for</a:t>
            </a:r>
            <a:r>
              <a:rPr sz="4000" spc="-135" dirty="0"/>
              <a:t> </a:t>
            </a:r>
            <a:r>
              <a:rPr sz="4000" spc="-10" dirty="0"/>
              <a:t>Basics)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607946"/>
            <a:ext cx="1015746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Introduction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statements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loops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decision-making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repetition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616" y="3080004"/>
            <a:ext cx="6948170" cy="95440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2800" spc="-10" dirty="0">
                <a:latin typeface="Arial MT"/>
                <a:cs typeface="Arial MT"/>
              </a:rPr>
              <a:t>python</a:t>
            </a:r>
            <a:endParaRPr sz="2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800" b="1" dirty="0">
                <a:solidFill>
                  <a:srgbClr val="8858A8"/>
                </a:solidFill>
                <a:latin typeface="Arial"/>
                <a:cs typeface="Arial"/>
              </a:rPr>
              <a:t>if</a:t>
            </a:r>
            <a:r>
              <a:rPr sz="2800" b="1" spc="-55" dirty="0">
                <a:solidFill>
                  <a:srgbClr val="8858A8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D4D4B"/>
                </a:solidFill>
                <a:latin typeface="Arial MT"/>
                <a:cs typeface="Arial MT"/>
              </a:rPr>
              <a:t>age</a:t>
            </a:r>
            <a:r>
              <a:rPr sz="2800" spc="-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D4D4B"/>
                </a:solidFill>
                <a:latin typeface="Arial MT"/>
                <a:cs typeface="Arial MT"/>
              </a:rPr>
              <a:t>&gt;</a:t>
            </a:r>
            <a:r>
              <a:rPr sz="28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5861F"/>
                </a:solidFill>
                <a:latin typeface="Arial MT"/>
                <a:cs typeface="Arial MT"/>
              </a:rPr>
              <a:t>10</a:t>
            </a:r>
            <a:r>
              <a:rPr sz="2800" dirty="0">
                <a:solidFill>
                  <a:srgbClr val="4D4D4B"/>
                </a:solidFill>
                <a:latin typeface="Arial MT"/>
                <a:cs typeface="Arial MT"/>
              </a:rPr>
              <a:t>:</a:t>
            </a:r>
            <a:r>
              <a:rPr sz="2800" spc="-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800" b="1" spc="-25" dirty="0">
                <a:solidFill>
                  <a:srgbClr val="8858A8"/>
                </a:solidFill>
                <a:latin typeface="Arial"/>
                <a:cs typeface="Arial"/>
              </a:rPr>
              <a:t>print</a:t>
            </a:r>
            <a:r>
              <a:rPr sz="2800" spc="-25" dirty="0">
                <a:solidFill>
                  <a:srgbClr val="4D4D4B"/>
                </a:solidFill>
                <a:latin typeface="Arial MT"/>
                <a:cs typeface="Arial MT"/>
              </a:rPr>
              <a:t>(</a:t>
            </a:r>
            <a:r>
              <a:rPr sz="2800" spc="-25" dirty="0">
                <a:solidFill>
                  <a:srgbClr val="708B00"/>
                </a:solidFill>
                <a:latin typeface="Arial MT"/>
                <a:cs typeface="Arial MT"/>
              </a:rPr>
              <a:t>"You</a:t>
            </a:r>
            <a:r>
              <a:rPr sz="2800" spc="-30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8B00"/>
                </a:solidFill>
                <a:latin typeface="Arial MT"/>
                <a:cs typeface="Arial MT"/>
              </a:rPr>
              <a:t>are</a:t>
            </a:r>
            <a:r>
              <a:rPr sz="2800" spc="-55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8B00"/>
                </a:solidFill>
                <a:latin typeface="Arial MT"/>
                <a:cs typeface="Arial MT"/>
              </a:rPr>
              <a:t>older</a:t>
            </a:r>
            <a:r>
              <a:rPr sz="2800" spc="-30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8B00"/>
                </a:solidFill>
                <a:latin typeface="Arial MT"/>
                <a:cs typeface="Arial MT"/>
              </a:rPr>
              <a:t>than</a:t>
            </a:r>
            <a:r>
              <a:rPr sz="2800" spc="-50" dirty="0">
                <a:solidFill>
                  <a:srgbClr val="708B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08B00"/>
                </a:solidFill>
                <a:latin typeface="Arial MT"/>
                <a:cs typeface="Arial MT"/>
              </a:rPr>
              <a:t>10!"</a:t>
            </a:r>
            <a:r>
              <a:rPr sz="2800" spc="-10" dirty="0">
                <a:solidFill>
                  <a:srgbClr val="4D4D4B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00425"/>
            <a:ext cx="49530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1400175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Modular Coding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24288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Writing functions is essential for reproducible research. Modular code allows you to define an analysis once and apply it to thousands of samples.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47720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Functions encapsulate complexity, making your main scripts cleaner and significantly less prone to error.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66750" y="513397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Note: Parsing requires stripping newline \n characters to get a clean string.</a:t>
            </a:r>
            <a:endParaRPr/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666750" y="2390775"/>
          <a:ext cx="10858500" cy="2552700"/>
        </p:xfrm>
        <a:graphic>
          <a:graphicData uri="http://schemas.openxmlformats.org/drawingml/2006/table">
            <a:tbl>
              <a:tblPr firstRow="1" bandRow="1">
                <a:noFill/>
                <a:tableStyleId>{F0803834-6A48-4482-86AD-A1F96761B0B7}</a:tableStyleId>
              </a:tblPr>
              <a:tblGrid>
                <a:gridCol w="196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4E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4E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4E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Header 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Starts with a "greater than" symbol followed by the sequence ID.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Sequence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A, T, G, C,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biological data, often spanning multiple lines in a single file.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Multiple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&gt;ID_02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new header marks the end of the previous sequence and start of next.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666750" y="3014662"/>
            <a:ext cx="1969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636341" y="3014662"/>
            <a:ext cx="1549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186088" y="3014662"/>
            <a:ext cx="7339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66750" y="3652837"/>
            <a:ext cx="1969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636341" y="3652837"/>
            <a:ext cx="1549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186088" y="3652837"/>
            <a:ext cx="7339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66750" y="4291012"/>
            <a:ext cx="1969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636341" y="4291012"/>
            <a:ext cx="1549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186088" y="4291012"/>
            <a:ext cx="7339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66750" y="4929187"/>
            <a:ext cx="1969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636341" y="4929187"/>
            <a:ext cx="1549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186088" y="4929187"/>
            <a:ext cx="7339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66750" y="476250"/>
            <a:ext cx="11401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The FASTA Format Structure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66750" y="1171575"/>
            <a:ext cx="108585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083" rIns="0" bIns="0" rtlCol="0">
            <a:spAutoFit/>
          </a:bodyPr>
          <a:lstStyle/>
          <a:p>
            <a:pPr marL="31972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Installing</a:t>
            </a:r>
            <a:r>
              <a:rPr spc="-155" dirty="0"/>
              <a:t> </a:t>
            </a:r>
            <a:r>
              <a:rPr spc="-10" dirty="0"/>
              <a:t>BioPython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11020"/>
            <a:ext cx="4861560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Install</a:t>
            </a:r>
            <a:r>
              <a:rPr sz="3200" spc="-1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using: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pip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install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biopython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Import: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from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import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SeqIO,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Seq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1183" y="1797142"/>
            <a:ext cx="3739713" cy="22808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083" rIns="0" bIns="0" rtlCol="0">
            <a:spAutoFit/>
          </a:bodyPr>
          <a:lstStyle/>
          <a:p>
            <a:pPr marL="19132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Working</a:t>
            </a:r>
            <a:r>
              <a:rPr spc="-140" dirty="0"/>
              <a:t> </a:t>
            </a:r>
            <a:r>
              <a:rPr dirty="0"/>
              <a:t>with</a:t>
            </a:r>
            <a:r>
              <a:rPr spc="-140" dirty="0"/>
              <a:t> </a:t>
            </a:r>
            <a:r>
              <a:rPr spc="-120" dirty="0"/>
              <a:t>FASTA</a:t>
            </a:r>
            <a:r>
              <a:rPr spc="-125" dirty="0"/>
              <a:t> </a:t>
            </a:r>
            <a:r>
              <a:rPr spc="-10" dirty="0"/>
              <a:t>Sequences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07946"/>
            <a:ext cx="981519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85" dirty="0">
                <a:latin typeface="Calibri"/>
                <a:cs typeface="Calibri"/>
              </a:rPr>
              <a:t>FASTA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standard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format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DNA/protein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sequences. </a:t>
            </a:r>
            <a:r>
              <a:rPr sz="3200" dirty="0">
                <a:latin typeface="Calibri"/>
                <a:cs typeface="Calibri"/>
              </a:rPr>
              <a:t>BioPython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easy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parsing.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596" y="3676241"/>
            <a:ext cx="8313539" cy="2056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083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5"/>
              </a:spcBef>
            </a:pPr>
            <a:r>
              <a:rPr dirty="0"/>
              <a:t>Sequence</a:t>
            </a:r>
            <a:r>
              <a:rPr spc="-80" dirty="0"/>
              <a:t> </a:t>
            </a:r>
            <a:r>
              <a:rPr dirty="0"/>
              <a:t>I/O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Reading</a:t>
            </a:r>
            <a:r>
              <a:rPr spc="-65" dirty="0"/>
              <a:t> </a:t>
            </a:r>
            <a:r>
              <a:rPr spc="-90" dirty="0"/>
              <a:t>FASTA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11020"/>
            <a:ext cx="6999605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Code: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import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SeqIO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record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SeqIO.read("seq.fasta",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"fasta")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print(record.id)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print(record.seq)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0747" y="3412235"/>
            <a:ext cx="6118859" cy="32110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1855469" y="2228850"/>
            <a:ext cx="84810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2057400" y="3562350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Day 1: Foundations complete. Tomorrow: Day 2 - Pandas &amp; Large Datasets.</a:t>
            </a:r>
            <a:endParaRPr/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4475" y="431482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6925" y="431482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3675" y="4314825"/>
            <a:ext cx="3238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Widescreen</PresentationFormat>
  <Paragraphs>104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3ds Condensed</vt:lpstr>
      <vt:lpstr>Poppins</vt:lpstr>
      <vt:lpstr>Inter</vt:lpstr>
      <vt:lpstr>Arial MT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Why Python in Life Sciences?</vt:lpstr>
      <vt:lpstr>Welcome to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Concepts and Data Types</vt:lpstr>
      <vt:lpstr>User Input and Output</vt:lpstr>
      <vt:lpstr>Simple Operations</vt:lpstr>
      <vt:lpstr>Control Flow (Optional for Basics)</vt:lpstr>
      <vt:lpstr>PowerPoint Presentation</vt:lpstr>
      <vt:lpstr>PowerPoint Presentation</vt:lpstr>
      <vt:lpstr>Installing BioPython</vt:lpstr>
      <vt:lpstr>Working with FASTA Sequences</vt:lpstr>
      <vt:lpstr>Sequence I/O – Reading FASTA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 pawar</cp:lastModifiedBy>
  <cp:revision>1</cp:revision>
  <dcterms:modified xsi:type="dcterms:W3CDTF">2026-04-03T12:15:26Z</dcterms:modified>
</cp:coreProperties>
</file>